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</p:sldIdLst>
  <p:sldSz cy="9753600" cx="13004800"/>
  <p:notesSz cx="6858000" cy="9144000"/>
  <p:embeddedFontLst>
    <p:embeddedFont>
      <p:font typeface="Merriweather Sans"/>
      <p:regular r:id="rId35"/>
      <p:bold r:id="rId36"/>
      <p:italic r:id="rId37"/>
      <p:boldItalic r:id="rId38"/>
    </p:embeddedFont>
    <p:embeddedFont>
      <p:font typeface="Gill San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000000"/>
          </p15:clr>
        </p15:guide>
        <p15:guide id="2" pos="409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bold.fntdata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9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11" Type="http://schemas.openxmlformats.org/officeDocument/2006/relationships/slide" Target="slides/slide1.xml"/><Relationship Id="rId33" Type="http://schemas.openxmlformats.org/officeDocument/2006/relationships/slide" Target="slides/slide23.xml"/><Relationship Id="rId10" Type="http://schemas.openxmlformats.org/officeDocument/2006/relationships/notesMaster" Target="notesMasters/notesMaster1.xml"/><Relationship Id="rId32" Type="http://schemas.openxmlformats.org/officeDocument/2006/relationships/slide" Target="slides/slide22.xml"/><Relationship Id="rId13" Type="http://schemas.openxmlformats.org/officeDocument/2006/relationships/slide" Target="slides/slide3.xml"/><Relationship Id="rId35" Type="http://schemas.openxmlformats.org/officeDocument/2006/relationships/font" Target="fonts/MerriweatherSans-regular.fntdata"/><Relationship Id="rId12" Type="http://schemas.openxmlformats.org/officeDocument/2006/relationships/slide" Target="slides/slide2.xml"/><Relationship Id="rId34" Type="http://schemas.openxmlformats.org/officeDocument/2006/relationships/slide" Target="slides/slide24.xml"/><Relationship Id="rId15" Type="http://schemas.openxmlformats.org/officeDocument/2006/relationships/slide" Target="slides/slide5.xml"/><Relationship Id="rId37" Type="http://schemas.openxmlformats.org/officeDocument/2006/relationships/font" Target="fonts/MerriweatherSans-italic.fntdata"/><Relationship Id="rId14" Type="http://schemas.openxmlformats.org/officeDocument/2006/relationships/slide" Target="slides/slide4.xml"/><Relationship Id="rId36" Type="http://schemas.openxmlformats.org/officeDocument/2006/relationships/font" Target="fonts/MerriweatherSans-bold.fntdata"/><Relationship Id="rId17" Type="http://schemas.openxmlformats.org/officeDocument/2006/relationships/slide" Target="slides/slide7.xml"/><Relationship Id="rId39" Type="http://schemas.openxmlformats.org/officeDocument/2006/relationships/font" Target="fonts/GillSans-regular.fntdata"/><Relationship Id="rId16" Type="http://schemas.openxmlformats.org/officeDocument/2006/relationships/slide" Target="slides/slide6.xml"/><Relationship Id="rId38" Type="http://schemas.openxmlformats.org/officeDocument/2006/relationships/font" Target="fonts/MerriweatherSans-boldItalic.fntdata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62000" y="0"/>
            <a:ext cx="11163300" cy="454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762000" y="4589462"/>
            <a:ext cx="11168062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4899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74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30"/>
              <a:buChar char="⚫"/>
              <a:defRPr/>
            </a:lvl2pPr>
            <a:lvl3pPr indent="-306324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24"/>
              <a:buChar char="⚫"/>
              <a:defRPr/>
            </a:lvl3pPr>
            <a:lvl4pPr indent="-300609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4pPr>
            <a:lvl5pPr indent="-300609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5pPr>
            <a:lvl6pPr indent="-300609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6pPr>
            <a:lvl7pPr indent="-300609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7pPr>
            <a:lvl8pPr indent="-300609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8pPr>
            <a:lvl9pPr indent="-300609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647700" y="2728912"/>
            <a:ext cx="5740400" cy="70246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4899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74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30"/>
              <a:buChar char="⚫"/>
              <a:defRPr/>
            </a:lvl2pPr>
            <a:lvl3pPr indent="-306324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24"/>
              <a:buChar char="⚫"/>
              <a:defRPr/>
            </a:lvl3pPr>
            <a:lvl4pPr indent="-300609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4pPr>
            <a:lvl5pPr indent="-300609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5pPr>
            <a:lvl6pPr indent="-300609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6pPr>
            <a:lvl7pPr indent="-300609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7pPr>
            <a:lvl8pPr indent="-300609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8pPr>
            <a:lvl9pPr indent="-300609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334899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674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530"/>
              <a:buChar char="⚫"/>
              <a:defRPr/>
            </a:lvl2pPr>
            <a:lvl3pPr indent="-306324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224"/>
              <a:buChar char="⚫"/>
              <a:defRPr/>
            </a:lvl3pPr>
            <a:lvl4pPr indent="-300609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4pPr>
            <a:lvl5pPr indent="-300609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5pPr>
            <a:lvl6pPr indent="-300609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6pPr>
            <a:lvl7pPr indent="-300609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7pPr>
            <a:lvl8pPr indent="-300609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8pPr>
            <a:lvl9pPr indent="-300609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134"/>
              <a:buChar char="⚫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theme" Target="../theme/theme4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AAA7B1"/>
            </a:gs>
            <a:gs pos="100000">
              <a:srgbClr val="AFABB7"/>
            </a:gs>
          </a:gsLst>
          <a:lin ang="108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62000" y="0"/>
            <a:ext cx="11163300" cy="454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800" u="none" cap="none" strike="noStrike">
                <a:solidFill>
                  <a:srgbClr val="98CFE2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62000" y="4589462"/>
            <a:ext cx="11168062" cy="4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b="0" i="0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228600" lvl="5" marL="27432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228600" lvl="6" marL="32004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228600" lvl="7" marL="36576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228600" lvl="8" marL="4114800" marR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8C7"/>
              </a:buClr>
              <a:buSzPts val="1600"/>
              <a:buFont typeface="Merriweather Sans"/>
              <a:buNone/>
              <a:defRPr b="0" i="0" sz="1600" u="none" cap="none" strike="noStrike">
                <a:solidFill>
                  <a:srgbClr val="BFB8C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441198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  <a:defRPr b="0" i="0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41211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Char char="⚫"/>
              <a:defRPr b="0" i="0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349504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084"/>
              </a:buClr>
              <a:buSzPts val="190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340614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BB1C9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340614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340614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340614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340614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340614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647700" y="2728912"/>
            <a:ext cx="5740400" cy="7024687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441198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  <a:defRPr b="0" i="0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41211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Char char="⚫"/>
              <a:defRPr b="0" i="0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349504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084"/>
              </a:buClr>
              <a:buSzPts val="190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340614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BB1C9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340614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340614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340614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340614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340614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585CF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  <a:defRPr b="0" i="0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441198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9BBB59"/>
              </a:buClr>
              <a:buSzPts val="3348"/>
              <a:buFont typeface="Noto Sans Symbols"/>
              <a:buChar char="⚫"/>
              <a:defRPr b="0" i="0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41211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F81BD"/>
              </a:buClr>
              <a:buSzPts val="2890"/>
              <a:buFont typeface="Noto Sans Symbols"/>
              <a:buChar char="⚫"/>
              <a:defRPr b="0" i="0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349504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90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340614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BBB59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340614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340614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340614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340614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340614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441198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9BBB59"/>
              </a:buClr>
              <a:buSzPts val="3348"/>
              <a:buFont typeface="Noto Sans Symbols"/>
              <a:buChar char="⚫"/>
              <a:defRPr b="0" i="0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41211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F81BD"/>
              </a:buClr>
              <a:buSzPts val="2890"/>
              <a:buFont typeface="Noto Sans Symbols"/>
              <a:buChar char="⚫"/>
              <a:defRPr b="0" i="0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349504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90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340614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BBB59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340614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340614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340614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340614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340614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0" u="none" cap="none" strike="noStrik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>
            <a:lvl1pPr indent="-441198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9BBB59"/>
              </a:buClr>
              <a:buSzPts val="3348"/>
              <a:buFont typeface="Noto Sans Symbols"/>
              <a:buChar char="⚫"/>
              <a:defRPr b="0" i="0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412115" lvl="1" marL="9144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F81BD"/>
              </a:buClr>
              <a:buSzPts val="2890"/>
              <a:buFont typeface="Noto Sans Symbols"/>
              <a:buChar char="⚫"/>
              <a:defRPr b="0" i="0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349504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C0504D"/>
              </a:buClr>
              <a:buSzPts val="190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340614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BBB59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340614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340614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340614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340614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340614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064A2"/>
              </a:buClr>
              <a:buSzPts val="1764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577"/>
              </a:buClr>
              <a:buSzPts val="1600"/>
              <a:buFont typeface="Merriweather Sans"/>
              <a:buNone/>
              <a:defRPr b="0" i="0" sz="1600" u="none">
                <a:solidFill>
                  <a:srgbClr val="1D4577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29.jp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" name="Google Shape;58;p11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9" name="Google Shape;59;p11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60" name="Google Shape;60;p11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" name="Google Shape;61;p11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2" name="Google Shape;62;p11"/>
          <p:cNvSpPr txBox="1"/>
          <p:nvPr>
            <p:ph type="title"/>
          </p:nvPr>
        </p:nvSpPr>
        <p:spPr>
          <a:xfrm>
            <a:off x="-5638800" y="-2806700"/>
            <a:ext cx="14808200" cy="56149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300"/>
              </a:buClr>
              <a:buSzPts val="13600"/>
              <a:buFont typeface="Merriweather Sans"/>
              <a:buNone/>
            </a:pPr>
            <a:r>
              <a:rPr b="1" i="0" lang="en-US" sz="13600" u="none">
                <a:solidFill>
                  <a:srgbClr val="D6A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Bonding</a:t>
            </a:r>
            <a:endParaRPr/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419100" y="3248025"/>
            <a:ext cx="11171237" cy="609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6425"/>
              </a:buClr>
              <a:buSzPts val="3600"/>
              <a:buFont typeface="Merriweather Sans"/>
              <a:buNone/>
            </a:pPr>
            <a:r>
              <a:rPr b="0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What are </a:t>
            </a:r>
            <a:r>
              <a:rPr b="1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bonds</a:t>
            </a:r>
            <a:r>
              <a:rPr b="0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? </a:t>
            </a:r>
            <a:endParaRPr b="0" i="0" sz="3600" u="none" cap="none" strike="noStrike">
              <a:solidFill>
                <a:srgbClr val="746425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746425"/>
              </a:buClr>
              <a:buSzPts val="3600"/>
              <a:buFont typeface="Merriweather Sans"/>
              <a:buNone/>
            </a:pPr>
            <a:r>
              <a:rPr b="0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bonding</a:t>
            </a:r>
            <a:endParaRPr b="0" i="0" sz="3600" u="none" cap="none" strike="noStrike">
              <a:solidFill>
                <a:srgbClr val="746425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746425"/>
              </a:buClr>
              <a:buSzPts val="3600"/>
              <a:buFont typeface="Merriweather Sans"/>
              <a:buNone/>
            </a:pPr>
            <a:r>
              <a:rPr b="0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Covalent Bonds</a:t>
            </a:r>
            <a:endParaRPr b="0" i="0" sz="3600" u="none" cap="none" strike="noStrike">
              <a:solidFill>
                <a:srgbClr val="746425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746425"/>
              </a:buClr>
              <a:buSzPts val="3600"/>
              <a:buFont typeface="Merriweather Sans"/>
              <a:buNone/>
            </a:pPr>
            <a:r>
              <a:rPr b="0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NAMING!!!</a:t>
            </a:r>
            <a:endParaRPr b="0" i="0" sz="3600" u="none" cap="none" strike="noStrike">
              <a:solidFill>
                <a:srgbClr val="746425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 Sans"/>
              <a:buNone/>
            </a:pPr>
            <a:r>
              <a:t/>
            </a:r>
            <a:endParaRPr b="0" i="0" sz="3600" u="none" cap="none" strike="noStrike">
              <a:solidFill>
                <a:srgbClr val="746425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746425"/>
              </a:buClr>
              <a:buSzPts val="3600"/>
              <a:buFont typeface="Merriweather Sans"/>
              <a:buNone/>
            </a:pPr>
            <a:r>
              <a:rPr b="0" i="0" lang="en-US" sz="3600" u="none" cap="none" strike="noStrike">
                <a:solidFill>
                  <a:srgbClr val="746425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(MHR Chemistry 11, Section 2.2)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pic>
        <p:nvPicPr>
          <p:cNvPr id="69" name="Google Shape;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5987" y="466725"/>
            <a:ext cx="6065837" cy="9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 txBox="1"/>
          <p:nvPr/>
        </p:nvSpPr>
        <p:spPr>
          <a:xfrm>
            <a:off x="2738437" y="3894137"/>
            <a:ext cx="7851775" cy="28448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57775" wrap="square" tIns="0">
            <a:spAutoFit/>
          </a:bodyPr>
          <a:lstStyle/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0"/>
              <a:buFont typeface="Impact"/>
              <a:buNone/>
            </a:pPr>
            <a:r>
              <a:rPr b="0" i="0" lang="en-US" sz="9200" u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Chemical Bonds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200" u="non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7" name="Google Shape;77;p13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78" name="Google Shape;78;p13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0" name="Google Shape;80;p13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1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Bonding</a:t>
            </a:r>
            <a:endParaRPr/>
          </a:p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647700" y="2589212"/>
            <a:ext cx="11709400" cy="700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4092"/>
              <a:buFont typeface="Noto Sans Symbols"/>
              <a:buChar char="⚫"/>
            </a:pPr>
            <a:r>
              <a:rPr b="1" i="0" lang="en-US" sz="4400" u="none" cap="none" strike="noStrike">
                <a:solidFill>
                  <a:srgbClr val="312B39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Bonds are formed between atoms by the transfer or sharing of electrons</a:t>
            </a:r>
            <a:endParaRPr b="1" i="0" sz="4400" u="none" cap="none" strike="noStrike">
              <a:solidFill>
                <a:srgbClr val="312B39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6BB1C9"/>
              </a:buClr>
              <a:buSzPts val="4092"/>
              <a:buFont typeface="Noto Sans Symbols"/>
              <a:buChar char="⚫"/>
            </a:pPr>
            <a:r>
              <a:rPr b="1" i="0" lang="en-US" sz="4400" u="none" cap="none" strike="noStrike">
                <a:solidFill>
                  <a:srgbClr val="312B39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Atoms acquire stable octets by forming bonds (8 electrons). The exception is hydrogen (only 2 e-)</a:t>
            </a:r>
            <a:endParaRPr b="1" i="0" sz="4400" u="none" cap="none" strike="noStrike">
              <a:solidFill>
                <a:srgbClr val="312B39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6BB1C9"/>
              </a:buClr>
              <a:buSzPts val="4092"/>
              <a:buFont typeface="Noto Sans Symbols"/>
              <a:buChar char="⚫"/>
            </a:pPr>
            <a:r>
              <a:rPr b="1" i="0" lang="en-US" sz="4400" u="none" cap="none" strike="noStrike">
                <a:solidFill>
                  <a:srgbClr val="312B39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Types of bonding:</a:t>
            </a:r>
            <a:endParaRPr b="1" i="0" sz="4400" u="none" cap="none" strike="noStrike">
              <a:solidFill>
                <a:srgbClr val="312B39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EB966"/>
              </a:buClr>
              <a:buSzPts val="3570"/>
              <a:buFont typeface="Noto Sans Symbols"/>
              <a:buChar char="⚫"/>
            </a:pPr>
            <a:r>
              <a:rPr b="1" i="0" lang="en-US" sz="4200" u="none" cap="none" strike="noStrike">
                <a:solidFill>
                  <a:srgbClr val="312B39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- metal &amp; non-metal</a:t>
            </a:r>
            <a:endParaRPr b="1" i="0" sz="4200" u="none" cap="none" strike="noStrike">
              <a:solidFill>
                <a:srgbClr val="312B39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EB966"/>
              </a:buClr>
              <a:buSzPts val="3570"/>
              <a:buFont typeface="Noto Sans Symbols"/>
              <a:buChar char="⚫"/>
            </a:pPr>
            <a:r>
              <a:rPr b="1" i="0" lang="en-US" sz="4200" u="none" cap="none" strike="noStrike">
                <a:solidFill>
                  <a:srgbClr val="312B39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Covalent - non-metal &amp; non-metal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87" name="Google Shape;87;p14"/>
          <p:cNvSpPr txBox="1"/>
          <p:nvPr>
            <p:ph type="title"/>
          </p:nvPr>
        </p:nvSpPr>
        <p:spPr>
          <a:xfrm>
            <a:off x="698500" y="-190500"/>
            <a:ext cx="12255500" cy="21066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5500"/>
              <a:buFont typeface="Merriweather Sans"/>
              <a:buNone/>
            </a:pPr>
            <a:r>
              <a:rPr b="1" i="0" lang="en-US" sz="55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What do we know about bonding? 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9" name="Google Shape;89;p14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90" name="Google Shape;90;p14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000" y="2616200"/>
            <a:ext cx="10496550" cy="69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93700" y="3416300"/>
            <a:ext cx="438785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12"/>
              </a:buClr>
              <a:buSzPts val="3600"/>
              <a:buFont typeface="Gill Sans"/>
              <a:buNone/>
            </a:pPr>
            <a:r>
              <a:rPr b="1" i="0" lang="en-US" sz="3600" u="none">
                <a:solidFill>
                  <a:srgbClr val="FF2712"/>
                </a:solidFill>
                <a:latin typeface="Gill Sans"/>
                <a:ea typeface="Gill Sans"/>
                <a:cs typeface="Gill Sans"/>
                <a:sym typeface="Gill Sans"/>
              </a:rPr>
              <a:t>IONIC BONDING 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277100" y="3416300"/>
            <a:ext cx="5667375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ts val="3600"/>
              <a:buFont typeface="Gill Sans"/>
              <a:buNone/>
            </a:pPr>
            <a:r>
              <a:rPr b="1" i="0" lang="en-US" sz="3600" u="none">
                <a:solidFill>
                  <a:srgbClr val="0044FE"/>
                </a:solidFill>
                <a:latin typeface="Gill Sans"/>
                <a:ea typeface="Gill Sans"/>
                <a:cs typeface="Gill Sans"/>
                <a:sym typeface="Gill Sans"/>
              </a:rPr>
              <a:t>COVALENT BONDING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Electronegativity Difference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7100" y="1625600"/>
            <a:ext cx="5207000" cy="76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66700" y="3086100"/>
            <a:ext cx="5588000" cy="6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noAutofit/>
          </a:bodyPr>
          <a:lstStyle/>
          <a:p>
            <a:pPr indent="-34925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Merriweather Sans"/>
              <a:buChar char="•"/>
            </a:pP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How do we know if a bond will be </a:t>
            </a:r>
            <a:r>
              <a:rPr b="0" i="0" lang="en-US" sz="4400" u="none">
                <a:solidFill>
                  <a:srgbClr val="D90B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</a:t>
            </a: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or </a:t>
            </a:r>
            <a:r>
              <a:rPr b="0" i="0" lang="en-US" sz="4400" u="none">
                <a:solidFill>
                  <a:srgbClr val="2E6FF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covalent</a:t>
            </a: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? </a:t>
            </a:r>
            <a:endParaRPr/>
          </a:p>
          <a:p>
            <a:pPr indent="-34925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Merriweather Sans"/>
              <a:buChar char="•"/>
            </a:pP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Use Electronegativity values! </a:t>
            </a:r>
            <a:endParaRPr/>
          </a:p>
          <a:p>
            <a:pPr indent="-34925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Merriweather Sans"/>
              <a:buChar char="•"/>
            </a:pP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If the difference is greater than 1.7, the bond is </a:t>
            </a:r>
            <a:r>
              <a:rPr b="0" i="0" lang="en-US" sz="4400" u="none">
                <a:solidFill>
                  <a:srgbClr val="FF271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2016125"/>
            <a:ext cx="7785100" cy="649763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113" name="Google Shape;113;p16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4" name="Google Shape;114;p16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15" name="Google Shape;115;p16"/>
          <p:cNvSpPr txBox="1"/>
          <p:nvPr>
            <p:ph type="title"/>
          </p:nvPr>
        </p:nvSpPr>
        <p:spPr>
          <a:xfrm>
            <a:off x="1409700" y="-1511300"/>
            <a:ext cx="9499600" cy="3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0B00"/>
              </a:buClr>
              <a:buSzPts val="7000"/>
              <a:buFont typeface="Merriweather Sans"/>
              <a:buNone/>
            </a:pPr>
            <a:r>
              <a:rPr b="1" i="0" lang="en-US" sz="7000" u="none">
                <a:solidFill>
                  <a:srgbClr val="D90B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Bonding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-381000" y="2074862"/>
            <a:ext cx="6324600" cy="7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Occurs between a              Metal and Non-metal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Transfer of electrons causes ions to be formed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“Bond” is an electrostatic attraction between ions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Difference in electronegativity more than 1.7 between elements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647700" y="2728912"/>
            <a:ext cx="5740400" cy="702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60452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473075" y="268287"/>
            <a:ext cx="125349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no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Ionic Bonds </a:t>
            </a: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occur when one atom </a:t>
            </a:r>
            <a:r>
              <a:rPr b="0" i="0" lang="en-US" sz="3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donates</a:t>
            </a: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   					</a:t>
            </a:r>
            <a:r>
              <a:rPr b="0" i="0" lang="en-US" sz="3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gives up </a:t>
            </a:r>
            <a:r>
              <a:rPr b="0" i="0" lang="en-US" sz="3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or more electrons</a:t>
            </a:r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5757" l="0" r="0" t="0"/>
          <a:stretch/>
        </p:blipFill>
        <p:spPr>
          <a:xfrm>
            <a:off x="361950" y="1958975"/>
            <a:ext cx="12415837" cy="4819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7"/>
          <p:cNvGrpSpPr/>
          <p:nvPr/>
        </p:nvGrpSpPr>
        <p:grpSpPr>
          <a:xfrm>
            <a:off x="933450" y="6227762"/>
            <a:ext cx="8115300" cy="3273425"/>
            <a:chOff x="0" y="0"/>
            <a:chExt cx="5111" cy="2061"/>
          </a:xfrm>
        </p:grpSpPr>
        <p:pic>
          <p:nvPicPr>
            <p:cNvPr id="126" name="Google Shape;126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9" y="0"/>
              <a:ext cx="2184" cy="18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" y="192"/>
              <a:ext cx="1340" cy="15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 txBox="1"/>
            <p:nvPr/>
          </p:nvSpPr>
          <p:spPr>
            <a:xfrm>
              <a:off x="2252" y="1708"/>
              <a:ext cx="2859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7775" wrap="square" tIns="0">
              <a:spAutoFit/>
            </a:bodyPr>
            <a:lstStyle/>
            <a:p>
              <a:pPr indent="0" lvl="0" marL="571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Ionic Compound ( Na</a:t>
              </a:r>
              <a:r>
                <a:rPr b="0" baseline="30000" i="0" lang="en-US" sz="2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0" i="0" lang="en-US" sz="2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</a:t>
              </a:r>
              <a:r>
                <a:rPr b="0" baseline="30000" i="0" lang="en-US" sz="2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r>
                <a:rPr b="0" i="0" lang="en-US" sz="2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 </a:t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0" y="1749"/>
              <a:ext cx="1428" cy="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7775" wrap="square" tIns="0">
              <a:spAutoFit/>
            </a:bodyPr>
            <a:lstStyle/>
            <a:p>
              <a:pPr indent="0" lvl="0" marL="571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Salt crystals</a:t>
              </a:r>
              <a:endParaRPr/>
            </a:p>
          </p:txBody>
        </p:sp>
      </p:grpSp>
      <p:grpSp>
        <p:nvGrpSpPr>
          <p:cNvPr id="130" name="Google Shape;130;p17"/>
          <p:cNvGrpSpPr/>
          <p:nvPr/>
        </p:nvGrpSpPr>
        <p:grpSpPr>
          <a:xfrm>
            <a:off x="9493250" y="7065962"/>
            <a:ext cx="3309937" cy="2019300"/>
            <a:chOff x="0" y="0"/>
            <a:chExt cx="2084" cy="1271"/>
          </a:xfrm>
        </p:grpSpPr>
        <p:pic>
          <p:nvPicPr>
            <p:cNvPr id="131" name="Google Shape;131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775" cy="1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17"/>
            <p:cNvSpPr txBox="1"/>
            <p:nvPr/>
          </p:nvSpPr>
          <p:spPr>
            <a:xfrm>
              <a:off x="740" y="11"/>
              <a:ext cx="1344" cy="9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57775" wrap="square" tIns="0">
              <a:noAutofit/>
            </a:bodyPr>
            <a:lstStyle/>
            <a:p>
              <a:pPr indent="0" lvl="0" marL="5715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0" i="0" lang="en-US" sz="24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Opposite charges attract to form ionic bonds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140" name="Google Shape;140;p18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8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42" name="Google Shape;142;p18"/>
          <p:cNvSpPr txBox="1"/>
          <p:nvPr>
            <p:ph type="title"/>
          </p:nvPr>
        </p:nvSpPr>
        <p:spPr>
          <a:xfrm>
            <a:off x="647700" y="0"/>
            <a:ext cx="11709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0B00"/>
              </a:buClr>
              <a:buSzPts val="7000"/>
              <a:buFont typeface="Merriweather Sans"/>
              <a:buNone/>
            </a:pPr>
            <a:r>
              <a:rPr b="1" i="0" lang="en-US" sz="7000" u="none">
                <a:solidFill>
                  <a:srgbClr val="D90B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Bonding</a:t>
            </a:r>
            <a:endParaRPr/>
          </a:p>
        </p:txBody>
      </p:sp>
      <p:sp>
        <p:nvSpPr>
          <p:cNvPr id="143" name="Google Shape;143;p18"/>
          <p:cNvSpPr txBox="1"/>
          <p:nvPr>
            <p:ph idx="1" type="body"/>
          </p:nvPr>
        </p:nvSpPr>
        <p:spPr>
          <a:xfrm>
            <a:off x="203200" y="2638425"/>
            <a:ext cx="7086600" cy="78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bonds such as NaCl do not consist of just one Na</a:t>
            </a:r>
            <a:r>
              <a:rPr b="0" baseline="30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+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ion bonded to one Cl</a:t>
            </a:r>
            <a:r>
              <a:rPr b="0" baseline="30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-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ion 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bonds represent the relative ratios of these ions in a huge lattice of thousands or millions of ions  (i.e. – if there are 5,000 Na</a:t>
            </a:r>
            <a:r>
              <a:rPr b="0" baseline="30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+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ions, there are 5,000 Cl</a:t>
            </a:r>
            <a:r>
              <a:rPr b="0" baseline="30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-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ions)</a:t>
            </a:r>
            <a:endParaRPr/>
          </a:p>
        </p:txBody>
      </p:sp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 b="48138" l="53729" r="0" t="0"/>
          <a:stretch/>
        </p:blipFill>
        <p:spPr>
          <a:xfrm>
            <a:off x="7594600" y="1387475"/>
            <a:ext cx="46736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5">
            <a:alphaModFix/>
          </a:blip>
          <a:srcRect b="53123" l="21678" r="60154" t="25311"/>
          <a:stretch/>
        </p:blipFill>
        <p:spPr>
          <a:xfrm>
            <a:off x="8540750" y="6419850"/>
            <a:ext cx="3149600" cy="23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52" name="Google Shape;152;p19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153" name="Google Shape;153;p19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5" name="Google Shape;155;p19"/>
          <p:cNvSpPr txBox="1"/>
          <p:nvPr>
            <p:ph type="title"/>
          </p:nvPr>
        </p:nvSpPr>
        <p:spPr>
          <a:xfrm>
            <a:off x="12700" y="-1625600"/>
            <a:ext cx="13004800" cy="47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1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Drawing Lewis Structures of </a:t>
            </a:r>
            <a:r>
              <a:rPr b="1" i="0" lang="en-US" sz="7000" u="none">
                <a:solidFill>
                  <a:srgbClr val="FF271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</a:t>
            </a:r>
            <a:r>
              <a:rPr b="1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Compounds</a:t>
            </a:r>
            <a:endParaRPr/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266700" y="3382962"/>
            <a:ext cx="11709400" cy="736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162"/>
              <a:buFont typeface="Noto Sans Symbols"/>
              <a:buChar char="⚫"/>
            </a:pP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 bonds are electrostatic attractions between cations and anions.</a:t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162"/>
              <a:buFont typeface="Noto Sans Symbols"/>
              <a:buChar char="⚫"/>
            </a:pP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Square brackets must be used around each ion, with charges on the top right hand corner</a:t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162"/>
              <a:buFont typeface="Noto Sans Symbols"/>
              <a:buChar char="⚫"/>
            </a:pP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Binary ionic compounds</a:t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550"/>
              <a:buFont typeface="Noto Sans Symbols"/>
              <a:buChar char="⚫"/>
            </a:pPr>
            <a:r>
              <a:rPr b="0" i="0" lang="en-US" sz="30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Count electrons for each element</a:t>
            </a:r>
            <a:endParaRPr b="0" i="0" sz="30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550"/>
              <a:buFont typeface="Noto Sans Symbols"/>
              <a:buChar char="⚫"/>
            </a:pPr>
            <a:r>
              <a:rPr b="0" i="0" lang="en-US" sz="30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Transfer electrons accordingly to satisfy octet</a:t>
            </a:r>
            <a:endParaRPr b="0" i="0" sz="30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162"/>
              <a:buFont typeface="Noto Sans Symbols"/>
              <a:buChar char="⚫"/>
            </a:pP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Ternary ionic compounds</a:t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550"/>
              <a:buFont typeface="Noto Sans Symbols"/>
              <a:buChar char="⚫"/>
            </a:pPr>
            <a:r>
              <a:rPr b="0" i="0" lang="en-US" sz="30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Draw Lewis structures for polyatomic ions using covalent rules</a:t>
            </a:r>
            <a:endParaRPr b="0" i="0" sz="30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550"/>
              <a:buFont typeface="Noto Sans Symbols"/>
              <a:buChar char="⚫"/>
            </a:pPr>
            <a:r>
              <a:rPr b="0" i="0" lang="en-US" sz="30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Combine with other half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164" name="Google Shape;164;p20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66" name="Google Shape;166;p20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1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Example</a:t>
            </a:r>
            <a:endParaRPr/>
          </a:p>
        </p:txBody>
      </p:sp>
      <p:sp>
        <p:nvSpPr>
          <p:cNvPr id="167" name="Google Shape;167;p20"/>
          <p:cNvSpPr txBox="1"/>
          <p:nvPr>
            <p:ph idx="1" type="body"/>
          </p:nvPr>
        </p:nvSpPr>
        <p:spPr>
          <a:xfrm>
            <a:off x="647700" y="2751137"/>
            <a:ext cx="11709400" cy="33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NaCl</a:t>
            </a:r>
            <a:endParaRPr/>
          </a:p>
        </p:txBody>
      </p:sp>
      <p:pic>
        <p:nvPicPr>
          <p:cNvPr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5600" y="1270000"/>
            <a:ext cx="7315200" cy="130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3400" y="2743200"/>
            <a:ext cx="6850062" cy="695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2184400" y="5842000"/>
            <a:ext cx="3979862" cy="3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Gill Sans"/>
              <a:buNone/>
            </a:pPr>
            <a:r>
              <a:rPr b="0" i="0" lang="en-US" sz="20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[   ]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172200" y="5842000"/>
            <a:ext cx="5232400" cy="3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0"/>
              <a:buFont typeface="Gill Sans"/>
              <a:buNone/>
            </a:pPr>
            <a:r>
              <a:rPr b="0" i="0" lang="en-US" sz="20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[    ]</a:t>
            </a:r>
            <a:r>
              <a:rPr b="0" baseline="30000" i="0" lang="en-US" sz="20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867400" y="6502400"/>
            <a:ext cx="5429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Gill Sans"/>
              <a:buNone/>
            </a:pPr>
            <a:r>
              <a:rPr b="0" i="0" lang="en-US" sz="5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178" name="Google Shape;178;p21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Try it! </a:t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Draw Lewis structures to explain the bonding between: 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Char char="⚫"/>
            </a:pP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Ca &amp; F</a:t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64134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64134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64134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47649" lvl="1" marL="563562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CEB966"/>
              </a:buClr>
              <a:buSzPts val="2890"/>
              <a:buFont typeface="Noto Sans Symbols"/>
              <a:buChar char="⚫"/>
            </a:pP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Fe</a:t>
            </a:r>
            <a:r>
              <a:rPr b="0" baseline="-2500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</a:t>
            </a:r>
            <a:r>
              <a:rPr b="0" baseline="-2500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r>
              <a:rPr b="0" i="0" lang="en-US" sz="34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81" name="Google Shape;181;p21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182" name="Google Shape;182;p21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9600" y="3924300"/>
            <a:ext cx="2400300" cy="23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0400" y="6985000"/>
            <a:ext cx="2552700" cy="26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191" name="Google Shape;191;p22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Naming </a:t>
            </a:r>
            <a:r>
              <a:rPr b="0" i="0" lang="en-US" sz="7000" u="none">
                <a:solidFill>
                  <a:srgbClr val="D90B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</a:t>
            </a: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Compounds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660400" y="62563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CaF</a:t>
            </a:r>
            <a:r>
              <a:rPr b="0" baseline="-2500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 b="0" baseline="-2500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60452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None/>
            </a:pPr>
            <a:r>
              <a:t/>
            </a:r>
            <a:endParaRPr b="0" baseline="-2500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FeO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60452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Fe</a:t>
            </a:r>
            <a:r>
              <a:rPr b="0" baseline="-2500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</a:t>
            </a:r>
            <a:r>
              <a:rPr b="0" baseline="-2500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94" name="Google Shape;194;p22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195" name="Google Shape;195;p22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6" name="Google Shape;196;p22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197" name="Google Shape;1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2712" y="2616200"/>
            <a:ext cx="10252075" cy="336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562600" y="6210300"/>
            <a:ext cx="4625975" cy="3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erriweather Sans"/>
              <a:buNone/>
            </a:pP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Calcium fluoride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t/>
            </a:r>
            <a:endParaRPr b="0" i="0" sz="44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erriweather Sans"/>
              <a:buNone/>
            </a:pP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Iron (II) oxide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ill Sans"/>
              <a:buNone/>
            </a:pPr>
            <a:r>
              <a:t/>
            </a:r>
            <a:endParaRPr b="0" i="0" sz="44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erriweather Sans"/>
              <a:buNone/>
            </a:pPr>
            <a:r>
              <a:rPr b="0" i="0" lang="en-US" sz="4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Iron (III) oxide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204" name="Google Shape;204;p23"/>
          <p:cNvSpPr txBox="1"/>
          <p:nvPr>
            <p:ph type="title"/>
          </p:nvPr>
        </p:nvSpPr>
        <p:spPr>
          <a:xfrm>
            <a:off x="647700" y="-57150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Add in some Polyatomics! </a:t>
            </a:r>
            <a:endParaRPr/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203200" y="68405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Sodium perchlorate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Magnesium chlorate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Lithium chlorite</a:t>
            </a:r>
            <a:endParaRPr b="0" i="0" sz="3600" u="none" cap="none" strike="noStrik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 cap="none" strike="noStrik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Calcium hypochlorite </a:t>
            </a:r>
            <a:endParaRPr/>
          </a:p>
        </p:txBody>
      </p:sp>
      <p:pic>
        <p:nvPicPr>
          <p:cNvPr id="206" name="Google Shape;20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300" y="3009900"/>
            <a:ext cx="9779000" cy="35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08" name="Google Shape;208;p23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209" name="Google Shape;209;p23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11" name="Google Shape;211;p23"/>
          <p:cNvSpPr txBox="1"/>
          <p:nvPr/>
        </p:nvSpPr>
        <p:spPr>
          <a:xfrm>
            <a:off x="6591300" y="6819900"/>
            <a:ext cx="1933575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NaClO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6591300" y="7467600"/>
            <a:ext cx="25765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Mg(ClO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)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6591300" y="8115300"/>
            <a:ext cx="169545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LiClO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6591300" y="8763000"/>
            <a:ext cx="224155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Ca(ClO)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6642100" y="2171700"/>
            <a:ext cx="1811337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NaNO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685800" y="2171700"/>
            <a:ext cx="39481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Sodium nitrate 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3022600" y="4102100"/>
            <a:ext cx="1751012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rPr b="0" i="0" lang="en-US" sz="3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NORMAL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3568700" y="3708400"/>
            <a:ext cx="584200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rPr b="0" i="0" lang="en-US" sz="3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+1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3568700" y="4495800"/>
            <a:ext cx="48418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rPr b="0" i="0" lang="en-US" sz="3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-1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3568700" y="4889500"/>
            <a:ext cx="484187" cy="5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ill Sans"/>
              <a:buNone/>
            </a:pPr>
            <a:r>
              <a:rPr b="0" i="0" lang="en-US" sz="30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-2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226" name="Google Shape;226;p24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Try it! </a:t>
            </a:r>
            <a:endParaRPr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60452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800" y="2755900"/>
            <a:ext cx="7099300" cy="5324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4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230" name="Google Shape;230;p24"/>
            <p:cNvSpPr/>
            <p:nvPr/>
          </p:nvSpPr>
          <p:spPr>
            <a:xfrm>
              <a:off x="16" y="8"/>
              <a:ext cx="8209" cy="931"/>
            </a:xfrm>
            <a:custGeom>
              <a:rect b="b" l="l" r="r" t="t"/>
              <a:pathLst>
                <a:path extrusionOk="0" h="21600" w="21600">
                  <a:moveTo>
                    <a:pt x="22" y="66"/>
                  </a:moveTo>
                  <a:lnTo>
                    <a:pt x="9513" y="0"/>
                  </a:lnTo>
                  <a:cubicBezTo>
                    <a:pt x="10276" y="3326"/>
                    <a:pt x="14325" y="12084"/>
                    <a:pt x="16368" y="12084"/>
                  </a:cubicBezTo>
                  <a:cubicBezTo>
                    <a:pt x="18412" y="12084"/>
                    <a:pt x="20679" y="5005"/>
                    <a:pt x="21578" y="1811"/>
                  </a:cubicBezTo>
                  <a:lnTo>
                    <a:pt x="21600" y="7013"/>
                  </a:lnTo>
                  <a:cubicBezTo>
                    <a:pt x="21218" y="8462"/>
                    <a:pt x="18771" y="14521"/>
                    <a:pt x="16099" y="14455"/>
                  </a:cubicBezTo>
                  <a:cubicBezTo>
                    <a:pt x="13427" y="14389"/>
                    <a:pt x="8252" y="5433"/>
                    <a:pt x="5568" y="6618"/>
                  </a:cubicBezTo>
                  <a:cubicBezTo>
                    <a:pt x="2807" y="6882"/>
                    <a:pt x="1010" y="15871"/>
                    <a:pt x="0" y="21600"/>
                  </a:cubicBezTo>
                  <a:lnTo>
                    <a:pt x="22" y="66"/>
                  </a:lnTo>
                  <a:close/>
                  <a:moveTo>
                    <a:pt x="22" y="66"/>
                  </a:moveTo>
                </a:path>
              </a:pathLst>
            </a:custGeom>
            <a:gradFill>
              <a:gsLst>
                <a:gs pos="0">
                  <a:srgbClr val="72835D">
                    <a:alpha val="45098"/>
                  </a:srgbClr>
                </a:gs>
                <a:gs pos="100000">
                  <a:srgbClr val="49ABCC">
                    <a:alpha val="54902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231" name="Google Shape;231;p24"/>
            <p:cNvGrpSpPr/>
            <p:nvPr/>
          </p:nvGrpSpPr>
          <p:grpSpPr>
            <a:xfrm>
              <a:off x="-1" y="0"/>
              <a:ext cx="8241" cy="986"/>
              <a:chOff x="-1" y="0"/>
              <a:chExt cx="8241" cy="986"/>
            </a:xfrm>
          </p:grpSpPr>
          <p:sp>
            <p:nvSpPr>
              <p:cNvPr id="232" name="Google Shape;232;p24"/>
              <p:cNvSpPr/>
              <p:nvPr/>
            </p:nvSpPr>
            <p:spPr>
              <a:xfrm rot="-180000">
                <a:off x="8" y="214"/>
                <a:ext cx="8210" cy="557"/>
              </a:xfrm>
              <a:custGeom>
                <a:rect b="b" l="l" r="r" t="t"/>
                <a:pathLst>
                  <a:path extrusionOk="0" h="20681" w="21600">
                    <a:moveTo>
                      <a:pt x="0" y="19778"/>
                    </a:moveTo>
                    <a:cubicBezTo>
                      <a:pt x="1055" y="15110"/>
                      <a:pt x="3454" y="5630"/>
                      <a:pt x="6017" y="5774"/>
                    </a:cubicBezTo>
                    <a:cubicBezTo>
                      <a:pt x="8581" y="5917"/>
                      <a:pt x="12783" y="21600"/>
                      <a:pt x="15380" y="20638"/>
                    </a:cubicBezTo>
                    <a:cubicBezTo>
                      <a:pt x="17978" y="19675"/>
                      <a:pt x="20305" y="4300"/>
                      <a:pt x="21600" y="0"/>
                    </a:cubicBezTo>
                  </a:path>
                </a:pathLst>
              </a:custGeom>
              <a:noFill/>
              <a:ln cap="flat" cmpd="sng" w="10775">
                <a:solidFill>
                  <a:srgbClr val="739A92">
                    <a:alpha val="78039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33" name="Google Shape;233;p24"/>
              <p:cNvSpPr/>
              <p:nvPr/>
            </p:nvSpPr>
            <p:spPr>
              <a:xfrm rot="-180000">
                <a:off x="14" y="281"/>
                <a:ext cx="8220" cy="453"/>
              </a:xfrm>
              <a:custGeom>
                <a:rect b="b" l="l" r="r" t="t"/>
                <a:pathLst>
                  <a:path extrusionOk="0" h="20682" w="21600">
                    <a:moveTo>
                      <a:pt x="0" y="18514"/>
                    </a:moveTo>
                    <a:cubicBezTo>
                      <a:pt x="1023" y="16364"/>
                      <a:pt x="3563" y="5413"/>
                      <a:pt x="6136" y="5767"/>
                    </a:cubicBezTo>
                    <a:cubicBezTo>
                      <a:pt x="8710" y="6121"/>
                      <a:pt x="12864" y="21600"/>
                      <a:pt x="15441" y="20639"/>
                    </a:cubicBezTo>
                    <a:cubicBezTo>
                      <a:pt x="18019" y="19678"/>
                      <a:pt x="20319" y="4300"/>
                      <a:pt x="21600" y="0"/>
                    </a:cubicBezTo>
                  </a:path>
                </a:pathLst>
              </a:custGeom>
              <a:noFill/>
              <a:ln cap="flat" cmpd="sng" w="9525">
                <a:solidFill>
                  <a:srgbClr val="809AA9">
                    <a:alpha val="78039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200" u="non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239" name="Google Shape;239;p25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What about </a:t>
            </a:r>
            <a:r>
              <a:rPr b="0" i="0" lang="en-US" sz="70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acids</a:t>
            </a: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? </a:t>
            </a:r>
            <a:endParaRPr/>
          </a:p>
        </p:txBody>
      </p:sp>
      <p:sp>
        <p:nvSpPr>
          <p:cNvPr id="240" name="Google Shape;240;p25"/>
          <p:cNvSpPr txBox="1"/>
          <p:nvPr>
            <p:ph idx="1" type="body"/>
          </p:nvPr>
        </p:nvSpPr>
        <p:spPr>
          <a:xfrm>
            <a:off x="203200" y="25987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Acids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are ionic compounds that have hydrogen in them. They have a special naming system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Acids that don’t have oxygen in them are called BINARY acids.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H</a:t>
            </a:r>
            <a:r>
              <a:rPr b="0" i="0" lang="en-US" sz="3600" u="none">
                <a:solidFill>
                  <a:srgbClr val="558E28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(aq) is hydro</a:t>
            </a:r>
            <a:r>
              <a:rPr b="0" i="0" lang="en-US" sz="3600" u="none">
                <a:solidFill>
                  <a:srgbClr val="558E28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chlor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ic acid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H</a:t>
            </a:r>
            <a:r>
              <a:rPr b="0" i="0" lang="en-US" sz="3600" u="none">
                <a:solidFill>
                  <a:srgbClr val="558E28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Br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(aq) is hydro</a:t>
            </a:r>
            <a:r>
              <a:rPr b="0" i="0" lang="en-US" sz="3600" u="none">
                <a:solidFill>
                  <a:srgbClr val="558E28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brom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ic acid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2" name="Google Shape;242;p25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243" name="Google Shape;243;p25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4" name="Google Shape;244;p25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245" name="Google Shape;2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700" y="6284912"/>
            <a:ext cx="12573000" cy="357028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/>
        </p:nvSpPr>
        <p:spPr>
          <a:xfrm>
            <a:off x="6070600" y="8407400"/>
            <a:ext cx="6692900" cy="635000"/>
          </a:xfrm>
          <a:prstGeom prst="rect">
            <a:avLst/>
          </a:prstGeom>
          <a:solidFill>
            <a:srgbClr val="F8F7E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6070600" y="9067800"/>
            <a:ext cx="6692900" cy="635000"/>
          </a:xfrm>
          <a:prstGeom prst="rect">
            <a:avLst/>
          </a:prstGeom>
          <a:solidFill>
            <a:srgbClr val="F8F7EE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253" name="Google Shape;253;p26"/>
          <p:cNvSpPr txBox="1"/>
          <p:nvPr>
            <p:ph type="title"/>
          </p:nvPr>
        </p:nvSpPr>
        <p:spPr>
          <a:xfrm>
            <a:off x="660400" y="-41910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Oxoacids</a:t>
            </a:r>
            <a:endParaRPr/>
          </a:p>
        </p:txBody>
      </p:sp>
      <p:sp>
        <p:nvSpPr>
          <p:cNvPr id="254" name="Google Shape;254;p26"/>
          <p:cNvSpPr txBox="1"/>
          <p:nvPr>
            <p:ph idx="1" type="body"/>
          </p:nvPr>
        </p:nvSpPr>
        <p:spPr>
          <a:xfrm>
            <a:off x="647700" y="27511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Any acid that has oxygen in it 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Named for the polyatomic ion in it, just drop the “ate” and put “ic acid” at the end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</a:t>
            </a:r>
            <a:r>
              <a:rPr b="0" baseline="-25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SO</a:t>
            </a:r>
            <a:r>
              <a:rPr b="0" baseline="-2500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is sulfur</a:t>
            </a:r>
            <a:r>
              <a:rPr b="1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ic acid</a:t>
            </a:r>
            <a:endParaRPr b="1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</a:t>
            </a:r>
            <a:r>
              <a:rPr b="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</a:t>
            </a:r>
            <a:r>
              <a:rPr b="0" baseline="-2500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r>
              <a:rPr b="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is nitr</a:t>
            </a:r>
            <a:r>
              <a:rPr b="1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ic acid</a:t>
            </a:r>
            <a:endParaRPr b="1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</a:t>
            </a:r>
            <a:r>
              <a:rPr b="0" baseline="-25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r>
              <a:rPr b="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</a:t>
            </a:r>
            <a:r>
              <a:rPr b="0" baseline="-2500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is phosphor</a:t>
            </a:r>
            <a:r>
              <a:rPr b="1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ic acid</a:t>
            </a:r>
            <a:endParaRPr b="1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H</a:t>
            </a:r>
            <a:r>
              <a:rPr b="0" baseline="-2500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</a:t>
            </a:r>
            <a:r>
              <a:rPr b="0" baseline="-25000" i="0" lang="en-US" sz="3600" u="none">
                <a:solidFill>
                  <a:srgbClr val="66B132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3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is carbon</a:t>
            </a:r>
            <a:r>
              <a:rPr b="1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ic acid</a:t>
            </a:r>
            <a:endParaRPr/>
          </a:p>
        </p:txBody>
      </p:sp>
      <p:sp>
        <p:nvSpPr>
          <p:cNvPr id="255" name="Google Shape;255;p26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56" name="Google Shape;256;p26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257" name="Google Shape;257;p26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58" name="Google Shape;258;p26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264" name="Google Shape;264;p27"/>
          <p:cNvSpPr txBox="1"/>
          <p:nvPr>
            <p:ph type="title"/>
          </p:nvPr>
        </p:nvSpPr>
        <p:spPr>
          <a:xfrm>
            <a:off x="647700" y="-38100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Oxoacids gone wild! </a:t>
            </a:r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2933700" y="3030537"/>
            <a:ext cx="11709400" cy="700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+1           per ______ ic acid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normal           ______ ic acid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-1                  ______ ous acid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-2          hypo ______ ous acid</a:t>
            </a:r>
            <a:endParaRPr/>
          </a:p>
        </p:txBody>
      </p:sp>
      <p:sp>
        <p:nvSpPr>
          <p:cNvPr id="266" name="Google Shape;266;p27"/>
          <p:cNvSpPr txBox="1"/>
          <p:nvPr>
            <p:ph idx="4294967295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</a:pPr>
            <a:fld id="{00000000-1234-1234-1234-123412341234}" type="slidenum">
              <a:rPr b="0" i="0" lang="en-US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‹#›</a:t>
            </a:fld>
            <a:endParaRPr/>
          </a:p>
        </p:txBody>
      </p:sp>
      <p:pic>
        <p:nvPicPr>
          <p:cNvPr id="267" name="Google Shape;267;p27"/>
          <p:cNvPicPr preferRelativeResize="0"/>
          <p:nvPr/>
        </p:nvPicPr>
        <p:blipFill rotWithShape="1">
          <a:blip r:embed="rId4">
            <a:alphaModFix/>
          </a:blip>
          <a:srcRect b="0" l="47941" r="889" t="0"/>
          <a:stretch/>
        </p:blipFill>
        <p:spPr>
          <a:xfrm>
            <a:off x="2806700" y="5632450"/>
            <a:ext cx="7416800" cy="41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-25400" y="2298700"/>
            <a:ext cx="13030200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If the oxygens in a polyatomic change, so does the name of the acid</a:t>
            </a:r>
            <a:endParaRPr/>
          </a:p>
        </p:txBody>
      </p:sp>
      <p:sp>
        <p:nvSpPr>
          <p:cNvPr id="269" name="Google Shape;269;p27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70" name="Google Shape;270;p27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271" name="Google Shape;271;p27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2" name="Google Shape;272;p27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79" name="Google Shape;279;p28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280" name="Google Shape;280;p28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1" name="Google Shape;281;p28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282" name="Google Shape;282;p28"/>
          <p:cNvSpPr txBox="1"/>
          <p:nvPr>
            <p:ph type="title"/>
          </p:nvPr>
        </p:nvSpPr>
        <p:spPr>
          <a:xfrm>
            <a:off x="647700" y="439737"/>
            <a:ext cx="117094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ts val="7000"/>
              <a:buFont typeface="Merriweather Sans"/>
              <a:buNone/>
            </a:pPr>
            <a:r>
              <a:rPr b="1" i="0" lang="en-US" sz="7000" u="none">
                <a:solidFill>
                  <a:srgbClr val="0044FE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  Covalent			</a:t>
            </a:r>
            <a:endParaRPr/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228600" y="2024062"/>
            <a:ext cx="5803900" cy="7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38100" wrap="square" tIns="45700">
            <a:noAutofit/>
          </a:bodyPr>
          <a:lstStyle/>
          <a:p>
            <a:pPr indent="-273050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Non-metal and non-metal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Sharing of electrons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 ions formed in the process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Bond is shared electrons between the two atoms (2, 4 or 6 electrons)</a:t>
            </a:r>
            <a:endParaRPr b="0" i="0" sz="3600" u="none">
              <a:solidFill>
                <a:schemeClr val="dk1"/>
              </a:solidFill>
              <a:latin typeface="Merriweather Sans"/>
              <a:ea typeface="Merriweather Sans"/>
              <a:cs typeface="Merriweather Sans"/>
              <a:sym typeface="Merriweather Sans"/>
            </a:endParaRPr>
          </a:p>
          <a:p>
            <a:pPr indent="-273050" lvl="0" marL="27305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6BB1C9"/>
              </a:buClr>
              <a:buSzPts val="3348"/>
              <a:buFont typeface="Noto Sans Symbols"/>
              <a:buChar char="⚫"/>
            </a:pP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Difference in electronegativity </a:t>
            </a:r>
            <a:r>
              <a:rPr b="1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less </a:t>
            </a:r>
            <a:r>
              <a:rPr b="0" i="0" lang="en-US" sz="36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 1.7</a:t>
            </a:r>
            <a:endParaRPr/>
          </a:p>
        </p:txBody>
      </p:sp>
      <p:pic>
        <p:nvPicPr>
          <p:cNvPr id="284" name="Google Shape;28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5387" y="647700"/>
            <a:ext cx="6259512" cy="88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pic>
        <p:nvPicPr>
          <p:cNvPr id="290" name="Google Shape;290;p29"/>
          <p:cNvPicPr preferRelativeResize="0"/>
          <p:nvPr/>
        </p:nvPicPr>
        <p:blipFill rotWithShape="1">
          <a:blip r:embed="rId4">
            <a:alphaModFix/>
          </a:blip>
          <a:srcRect b="0" l="0" r="0" t="4924"/>
          <a:stretch/>
        </p:blipFill>
        <p:spPr>
          <a:xfrm>
            <a:off x="1409700" y="1377950"/>
            <a:ext cx="9829800" cy="830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 txBox="1"/>
          <p:nvPr/>
        </p:nvSpPr>
        <p:spPr>
          <a:xfrm>
            <a:off x="168275" y="131762"/>
            <a:ext cx="128651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no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0044FE"/>
                </a:solidFill>
                <a:latin typeface="Arial"/>
                <a:ea typeface="Arial"/>
                <a:cs typeface="Arial"/>
                <a:sym typeface="Arial"/>
              </a:rPr>
              <a:t>Covalent Bonds – involve a sharing of a pair of valence electrons between atoms.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297" name="Google Shape;297;p30"/>
          <p:cNvSpPr txBox="1"/>
          <p:nvPr/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</a:pPr>
            <a:r>
              <a:rPr b="0" i="0" lang="en-US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21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933450" y="273050"/>
            <a:ext cx="9639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noAutofit/>
          </a:bodyPr>
          <a:lstStyle/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4FE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rgbClr val="0044FE"/>
                </a:solidFill>
                <a:latin typeface="Arial"/>
                <a:ea typeface="Arial"/>
                <a:cs typeface="Arial"/>
                <a:sym typeface="Arial"/>
              </a:rPr>
              <a:t>2 Types of Covalent Bonds</a:t>
            </a:r>
            <a:endParaRPr/>
          </a:p>
        </p:txBody>
      </p:sp>
      <p:sp>
        <p:nvSpPr>
          <p:cNvPr id="299" name="Google Shape;299;p30"/>
          <p:cNvSpPr txBox="1"/>
          <p:nvPr/>
        </p:nvSpPr>
        <p:spPr>
          <a:xfrm>
            <a:off x="619125" y="2609850"/>
            <a:ext cx="3551237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CD4D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86CD4D"/>
                </a:solidFill>
                <a:latin typeface="Arial"/>
                <a:ea typeface="Arial"/>
                <a:cs typeface="Arial"/>
                <a:sym typeface="Arial"/>
              </a:rPr>
              <a:t>Polar Covalent</a:t>
            </a:r>
            <a:endParaRPr/>
          </a:p>
        </p:txBody>
      </p:sp>
      <p:sp>
        <p:nvSpPr>
          <p:cNvPr id="300" name="Google Shape;300;p30"/>
          <p:cNvSpPr txBox="1"/>
          <p:nvPr/>
        </p:nvSpPr>
        <p:spPr>
          <a:xfrm>
            <a:off x="5521325" y="2673350"/>
            <a:ext cx="4541837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33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FFFF33"/>
                </a:solidFill>
                <a:latin typeface="Arial"/>
                <a:ea typeface="Arial"/>
                <a:cs typeface="Arial"/>
                <a:sym typeface="Arial"/>
              </a:rPr>
              <a:t>Non-polar covalent</a:t>
            </a:r>
            <a:endParaRPr/>
          </a:p>
        </p:txBody>
      </p:sp>
      <p:cxnSp>
        <p:nvCxnSpPr>
          <p:cNvPr id="301" name="Google Shape;301;p30"/>
          <p:cNvCxnSpPr/>
          <p:nvPr/>
        </p:nvCxnSpPr>
        <p:spPr>
          <a:xfrm flipH="1">
            <a:off x="2538412" y="1103312"/>
            <a:ext cx="3133725" cy="1525587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2" name="Google Shape;302;p30"/>
          <p:cNvCxnSpPr/>
          <p:nvPr/>
        </p:nvCxnSpPr>
        <p:spPr>
          <a:xfrm>
            <a:off x="5678487" y="1079500"/>
            <a:ext cx="2851150" cy="1525587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3" name="Google Shape;303;p30"/>
          <p:cNvSpPr txBox="1"/>
          <p:nvPr/>
        </p:nvSpPr>
        <p:spPr>
          <a:xfrm>
            <a:off x="7239000" y="4051300"/>
            <a:ext cx="3146425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33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rgbClr val="FFFF33"/>
                </a:solidFill>
                <a:latin typeface="Arial"/>
                <a:ea typeface="Arial"/>
                <a:cs typeface="Arial"/>
                <a:sym typeface="Arial"/>
              </a:rPr>
              <a:t>Equal sharing </a:t>
            </a:r>
            <a:endParaRPr/>
          </a:p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33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rgbClr val="FFFF33"/>
                </a:solidFill>
                <a:latin typeface="Arial"/>
                <a:ea typeface="Arial"/>
                <a:cs typeface="Arial"/>
                <a:sym typeface="Arial"/>
              </a:rPr>
              <a:t>of electrons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708025" y="4051300"/>
            <a:ext cx="3675062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CD4D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rgbClr val="86CD4D"/>
                </a:solidFill>
                <a:latin typeface="Arial"/>
                <a:ea typeface="Arial"/>
                <a:cs typeface="Arial"/>
                <a:sym typeface="Arial"/>
              </a:rPr>
              <a:t>Unequal sharing </a:t>
            </a:r>
            <a:endParaRPr/>
          </a:p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CD4D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rgbClr val="86CD4D"/>
                </a:solidFill>
                <a:latin typeface="Arial"/>
                <a:ea typeface="Arial"/>
                <a:cs typeface="Arial"/>
                <a:sym typeface="Arial"/>
              </a:rPr>
              <a:t>of electrons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3375025" y="5980112"/>
            <a:ext cx="5116512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 by the atoms 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2863850" y="6565900"/>
            <a:ext cx="6154737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ELECTRONEGATIVITY</a:t>
            </a:r>
            <a:endParaRPr/>
          </a:p>
        </p:txBody>
      </p:sp>
      <p:cxnSp>
        <p:nvCxnSpPr>
          <p:cNvPr id="307" name="Google Shape;307;p30"/>
          <p:cNvCxnSpPr/>
          <p:nvPr/>
        </p:nvCxnSpPr>
        <p:spPr>
          <a:xfrm>
            <a:off x="2536825" y="3282950"/>
            <a:ext cx="3175" cy="763587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8" name="Google Shape;308;p30"/>
          <p:cNvCxnSpPr/>
          <p:nvPr/>
        </p:nvCxnSpPr>
        <p:spPr>
          <a:xfrm>
            <a:off x="8824912" y="3282950"/>
            <a:ext cx="1587" cy="763587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9" name="Google Shape;309;p30"/>
          <p:cNvCxnSpPr/>
          <p:nvPr/>
        </p:nvCxnSpPr>
        <p:spPr>
          <a:xfrm>
            <a:off x="2647950" y="5226050"/>
            <a:ext cx="1116012" cy="754062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10" name="Google Shape;310;p30"/>
          <p:cNvCxnSpPr/>
          <p:nvPr/>
        </p:nvCxnSpPr>
        <p:spPr>
          <a:xfrm flipH="1">
            <a:off x="7775575" y="5226050"/>
            <a:ext cx="754062" cy="754062"/>
          </a:xfrm>
          <a:prstGeom prst="straightConnector1">
            <a:avLst/>
          </a:prstGeom>
          <a:noFill/>
          <a:ln cap="flat" cmpd="sng" w="349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1" name="Google Shape;311;p30"/>
          <p:cNvSpPr txBox="1"/>
          <p:nvPr/>
        </p:nvSpPr>
        <p:spPr>
          <a:xfrm>
            <a:off x="10866437" y="5391150"/>
            <a:ext cx="1674812" cy="1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E.g., H</a:t>
            </a:r>
            <a:r>
              <a:rPr b="0" baseline="-25000" i="0" lang="en-US" sz="3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400"/>
              <a:buFont typeface="Arial"/>
              <a:buNone/>
            </a:pPr>
            <a:r>
              <a:rPr b="0" baseline="-25000" i="0" lang="en-US" sz="3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	     </a:t>
            </a:r>
            <a:r>
              <a:rPr b="0" i="0" lang="en-US" sz="3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baseline="-25000" i="0" lang="en-US" sz="3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pic>
        <p:nvPicPr>
          <p:cNvPr id="312" name="Google Shape;31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0" y="749300"/>
            <a:ext cx="5207000" cy="76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318" name="Google Shape;318;p31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6235700" y="-12700"/>
            <a:ext cx="6769100" cy="858837"/>
          </a:xfrm>
          <a:custGeom>
            <a:rect b="b" l="l" r="r" t="t"/>
            <a:pathLst>
              <a:path extrusionOk="0" h="20552" w="21600">
                <a:moveTo>
                  <a:pt x="0" y="0"/>
                </a:moveTo>
                <a:cubicBezTo>
                  <a:pt x="1253" y="3703"/>
                  <a:pt x="8410" y="19349"/>
                  <a:pt x="12010" y="20475"/>
                </a:cubicBezTo>
                <a:cubicBezTo>
                  <a:pt x="15610" y="21600"/>
                  <a:pt x="20002" y="10128"/>
                  <a:pt x="21600" y="6752"/>
                </a:cubicBezTo>
                <a:lnTo>
                  <a:pt x="21600" y="218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gradFill>
            <a:gsLst>
              <a:gs pos="0">
                <a:srgbClr val="43869C">
                  <a:alpha val="29804"/>
                </a:srgbClr>
              </a:gs>
              <a:gs pos="100000">
                <a:srgbClr val="89A26C">
                  <a:alpha val="45098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20" name="Google Shape;320;p31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321" name="Google Shape;321;p31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2" name="Google Shape;322;p31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23" name="Google Shape;323;p31"/>
          <p:cNvSpPr txBox="1"/>
          <p:nvPr>
            <p:ph type="title"/>
          </p:nvPr>
        </p:nvSpPr>
        <p:spPr>
          <a:xfrm>
            <a:off x="647700" y="0"/>
            <a:ext cx="11709400" cy="2119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76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69676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Covalent vs. Polar covalent</a:t>
            </a:r>
            <a:endParaRPr/>
          </a:p>
        </p:txBody>
      </p:sp>
      <p:grpSp>
        <p:nvGrpSpPr>
          <p:cNvPr id="324" name="Google Shape;324;p31"/>
          <p:cNvGrpSpPr/>
          <p:nvPr/>
        </p:nvGrpSpPr>
        <p:grpSpPr>
          <a:xfrm>
            <a:off x="265112" y="2125662"/>
            <a:ext cx="12538075" cy="609600"/>
            <a:chOff x="0" y="0"/>
            <a:chExt cx="7897" cy="384"/>
          </a:xfrm>
        </p:grpSpPr>
        <p:sp>
          <p:nvSpPr>
            <p:cNvPr id="325" name="Google Shape;325;p31"/>
            <p:cNvSpPr/>
            <p:nvPr/>
          </p:nvSpPr>
          <p:spPr>
            <a:xfrm>
              <a:off x="0" y="0"/>
              <a:ext cx="4502" cy="38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4447" y="0"/>
              <a:ext cx="2661" cy="38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7080" y="0"/>
              <a:ext cx="817" cy="38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28" name="Google Shape;328;p31"/>
          <p:cNvSpPr txBox="1"/>
          <p:nvPr/>
        </p:nvSpPr>
        <p:spPr>
          <a:xfrm>
            <a:off x="228600" y="2946400"/>
            <a:ext cx="493712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4.0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7048500" y="2946400"/>
            <a:ext cx="493712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1.7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11163300" y="2946400"/>
            <a:ext cx="493712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0.3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12611100" y="2946400"/>
            <a:ext cx="2047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0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3429000" y="2946400"/>
            <a:ext cx="860425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IONIC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7861300" y="2946400"/>
            <a:ext cx="26812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POLAR COVALENT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10896600" y="3581400"/>
            <a:ext cx="26543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 Sans"/>
              <a:buNone/>
            </a:pPr>
            <a:r>
              <a:rPr b="0" i="0" lang="en-US" sz="2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NON-POLAR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-469900" y="3975100"/>
            <a:ext cx="13512800" cy="4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6"/>
              <a:buFont typeface="Noto Sans Symbols"/>
              <a:buChar char="●"/>
            </a:pPr>
            <a:r>
              <a:rPr b="0" i="0" lang="en-US" sz="3400" u="sng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Between 0.0 – 0.3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 </a:t>
            </a:r>
            <a:r>
              <a:rPr b="1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non-polar covalent bond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– bonding electrons are shared equally</a:t>
            </a:r>
            <a:endParaRPr/>
          </a:p>
          <a:p>
            <a:pPr indent="-228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Merriweather Sans"/>
              <a:buNone/>
            </a:pP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(H</a:t>
            </a:r>
            <a:r>
              <a:rPr b="0" baseline="-2500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N</a:t>
            </a:r>
            <a:r>
              <a:rPr b="0" baseline="-2500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O</a:t>
            </a:r>
            <a:r>
              <a:rPr b="0" baseline="-2500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F</a:t>
            </a:r>
            <a:r>
              <a:rPr b="0" baseline="-2500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 Cl</a:t>
            </a:r>
            <a:r>
              <a:rPr b="0" baseline="-2500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, Br</a:t>
            </a:r>
            <a:r>
              <a:rPr b="0" baseline="-25000" i="0" lang="en-US" sz="34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200" u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, I</a:t>
            </a:r>
            <a:r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2) – they form a “7” on the table.  </a:t>
            </a:r>
            <a:endParaRPr/>
          </a:p>
          <a:p>
            <a:pPr indent="-195072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"/>
              <a:buFont typeface="Noto Sans Symbols"/>
              <a:buChar char="●"/>
            </a:pPr>
            <a:r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between 0.3 – 1.7  polar covalent bond – the more electronegative atom attracts the shared electron pair more strongly than the less electronegative atom (ex: HCl)</a:t>
            </a:r>
            <a:endParaRPr/>
          </a:p>
          <a:p>
            <a:pPr indent="-195072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8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341" name="Google Shape;341;p32"/>
          <p:cNvSpPr txBox="1"/>
          <p:nvPr/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267"/>
              </a:buClr>
              <a:buSzPts val="1600"/>
              <a:buFont typeface="Merriweather Sans"/>
              <a:buNone/>
            </a:pPr>
            <a:r>
              <a:rPr b="0" i="0" lang="en-US" sz="1600" u="none">
                <a:solidFill>
                  <a:srgbClr val="646267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24</a:t>
            </a:r>
            <a:endParaRPr/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57200" y="1343025"/>
            <a:ext cx="7377112" cy="7434262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-254000" y="419100"/>
            <a:ext cx="9677400" cy="1130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33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57775" wrap="square" tIns="0">
            <a:noAutofit/>
          </a:bodyPr>
          <a:lstStyle/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boy is </a:t>
            </a:r>
            <a:r>
              <a:rPr b="0" i="0" lang="en-US" sz="3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 equally </a:t>
            </a: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sharing with anyone else but rather taking all the food for himself. </a:t>
            </a:r>
            <a:endParaRPr/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38937" y="2268537"/>
            <a:ext cx="6248400" cy="68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2"/>
          <p:cNvSpPr txBox="1"/>
          <p:nvPr/>
        </p:nvSpPr>
        <p:spPr>
          <a:xfrm>
            <a:off x="5313362" y="7994650"/>
            <a:ext cx="7670800" cy="11303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339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0" lIns="0" spcFirstLastPara="1" rIns="57775" wrap="square" tIns="0">
            <a:noAutofit/>
          </a:bodyPr>
          <a:lstStyle/>
          <a:p>
            <a:pPr indent="0" lvl="0" marL="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children are </a:t>
            </a:r>
            <a:r>
              <a:rPr b="0" i="0" lang="en-US" sz="34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equally</a:t>
            </a:r>
            <a:r>
              <a:rPr b="0" i="0" lang="en-US" sz="3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sharing the drink between themselves. 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947737" y="8551862"/>
            <a:ext cx="3551237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Polar Covalent</a:t>
            </a:r>
            <a:endParaRPr/>
          </a:p>
        </p:txBody>
      </p:sp>
      <p:sp>
        <p:nvSpPr>
          <p:cNvPr id="347" name="Google Shape;347;p32"/>
          <p:cNvSpPr txBox="1"/>
          <p:nvPr/>
        </p:nvSpPr>
        <p:spPr>
          <a:xfrm>
            <a:off x="7451725" y="1633537"/>
            <a:ext cx="45434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3800"/>
              <a:buFont typeface="Arial"/>
              <a:buNone/>
            </a:pPr>
            <a:r>
              <a:rPr b="0" i="0" lang="en-US" sz="3800" u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Non-polar covalent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353" name="Google Shape;353;p33"/>
          <p:cNvSpPr txBox="1"/>
          <p:nvPr>
            <p:ph type="title"/>
          </p:nvPr>
        </p:nvSpPr>
        <p:spPr>
          <a:xfrm>
            <a:off x="647700" y="-53340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Merriweather Sans"/>
              <a:buNone/>
            </a:pPr>
            <a:r>
              <a:rPr b="0" i="0" lang="en-US" sz="6000" u="non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Naming Molecular Compounds</a:t>
            </a:r>
            <a:endParaRPr/>
          </a:p>
        </p:txBody>
      </p:sp>
      <p:pic>
        <p:nvPicPr>
          <p:cNvPr id="354" name="Google Shape;35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4200" y="2349500"/>
            <a:ext cx="2463800" cy="36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3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56" name="Google Shape;356;p33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357" name="Google Shape;357;p33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8" name="Google Shape;358;p33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id="359" name="Google Shape;35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00" y="2095500"/>
            <a:ext cx="8636000" cy="52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3"/>
          <p:cNvSpPr txBox="1"/>
          <p:nvPr/>
        </p:nvSpPr>
        <p:spPr>
          <a:xfrm>
            <a:off x="1054100" y="7607300"/>
            <a:ext cx="149225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PCl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5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Cl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2</a:t>
            </a: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</a:t>
            </a:r>
            <a:r>
              <a:rPr b="0" baseline="-2500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7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5281612" y="7607300"/>
            <a:ext cx="6921500" cy="18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57775" wrap="square" tIns="0">
            <a:spAutoFit/>
          </a:bodyPr>
          <a:lstStyle/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Dinitrogen monoxide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Phosphorous pentachloride</a:t>
            </a:r>
            <a:endParaRPr/>
          </a:p>
          <a:p>
            <a:pPr indent="0" lvl="0" marL="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erriweather Sans"/>
              <a:buNone/>
            </a:pPr>
            <a:r>
              <a:rPr b="0" i="0" lang="en-US" sz="4000" u="none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Dichlorine heptaoxide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idx="12" type="sldNum"/>
          </p:nvPr>
        </p:nvSpPr>
        <p:spPr>
          <a:xfrm>
            <a:off x="12022137" y="9232900"/>
            <a:ext cx="369887" cy="33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367" name="Google Shape;367;p34"/>
          <p:cNvSpPr txBox="1"/>
          <p:nvPr>
            <p:ph type="title"/>
          </p:nvPr>
        </p:nvSpPr>
        <p:spPr>
          <a:xfrm>
            <a:off x="647700" y="0"/>
            <a:ext cx="11709400" cy="26257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7000"/>
              <a:buFont typeface="Merriweather Sans"/>
              <a:buNone/>
            </a:pPr>
            <a:r>
              <a:rPr b="0" i="0" lang="en-US" sz="7000" u="none">
                <a:solidFill>
                  <a:srgbClr val="1F497D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Try it! </a:t>
            </a:r>
            <a:endParaRPr/>
          </a:p>
        </p:txBody>
      </p:sp>
      <p:pic>
        <p:nvPicPr>
          <p:cNvPr id="368" name="Google Shape;3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500" y="4178300"/>
            <a:ext cx="1198880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-12700" y="-12700"/>
            <a:ext cx="13031787" cy="1477962"/>
          </a:xfrm>
          <a:custGeom>
            <a:rect b="b" l="l" r="r" t="t"/>
            <a:pathLst>
              <a:path extrusionOk="0" h="21600" w="21600">
                <a:moveTo>
                  <a:pt x="22" y="66"/>
                </a:moveTo>
                <a:lnTo>
                  <a:pt x="9513" y="0"/>
                </a:lnTo>
                <a:cubicBezTo>
                  <a:pt x="10276" y="3326"/>
                  <a:pt x="14325" y="12084"/>
                  <a:pt x="16368" y="12084"/>
                </a:cubicBezTo>
                <a:cubicBezTo>
                  <a:pt x="18412" y="12084"/>
                  <a:pt x="20679" y="5005"/>
                  <a:pt x="21578" y="1811"/>
                </a:cubicBezTo>
                <a:lnTo>
                  <a:pt x="21600" y="7013"/>
                </a:lnTo>
                <a:cubicBezTo>
                  <a:pt x="21218" y="8462"/>
                  <a:pt x="18771" y="14521"/>
                  <a:pt x="16099" y="14455"/>
                </a:cubicBezTo>
                <a:cubicBezTo>
                  <a:pt x="13427" y="14389"/>
                  <a:pt x="8252" y="5433"/>
                  <a:pt x="5568" y="6618"/>
                </a:cubicBezTo>
                <a:cubicBezTo>
                  <a:pt x="2807" y="6882"/>
                  <a:pt x="1010" y="15871"/>
                  <a:pt x="0" y="21600"/>
                </a:cubicBezTo>
                <a:lnTo>
                  <a:pt x="22" y="66"/>
                </a:lnTo>
                <a:close/>
                <a:moveTo>
                  <a:pt x="22" y="66"/>
                </a:moveTo>
              </a:path>
            </a:pathLst>
          </a:custGeom>
          <a:gradFill>
            <a:gsLst>
              <a:gs pos="0">
                <a:srgbClr val="72835D">
                  <a:alpha val="45098"/>
                </a:srgbClr>
              </a:gs>
              <a:gs pos="100000">
                <a:srgbClr val="49ABCC">
                  <a:alpha val="5490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370" name="Google Shape;370;p34"/>
          <p:cNvGrpSpPr/>
          <p:nvPr/>
        </p:nvGrpSpPr>
        <p:grpSpPr>
          <a:xfrm>
            <a:off x="-39608" y="-26126"/>
            <a:ext cx="13082859" cy="1565139"/>
            <a:chOff x="-1" y="0"/>
            <a:chExt cx="8241" cy="986"/>
          </a:xfrm>
        </p:grpSpPr>
        <p:sp>
          <p:nvSpPr>
            <p:cNvPr id="371" name="Google Shape;371;p34"/>
            <p:cNvSpPr/>
            <p:nvPr/>
          </p:nvSpPr>
          <p:spPr>
            <a:xfrm rot="-180000">
              <a:off x="8" y="214"/>
              <a:ext cx="8210" cy="557"/>
            </a:xfrm>
            <a:custGeom>
              <a:rect b="b" l="l" r="r" t="t"/>
              <a:pathLst>
                <a:path extrusionOk="0" h="20681" w="21600">
                  <a:moveTo>
                    <a:pt x="0" y="19778"/>
                  </a:moveTo>
                  <a:cubicBezTo>
                    <a:pt x="1055" y="15110"/>
                    <a:pt x="3454" y="5630"/>
                    <a:pt x="6017" y="5774"/>
                  </a:cubicBezTo>
                  <a:cubicBezTo>
                    <a:pt x="8581" y="5917"/>
                    <a:pt x="12783" y="21600"/>
                    <a:pt x="15380" y="20638"/>
                  </a:cubicBezTo>
                  <a:cubicBezTo>
                    <a:pt x="17978" y="19675"/>
                    <a:pt x="20305" y="4300"/>
                    <a:pt x="21600" y="0"/>
                  </a:cubicBezTo>
                </a:path>
              </a:pathLst>
            </a:custGeom>
            <a:noFill/>
            <a:ln cap="flat" cmpd="sng" w="10775">
              <a:solidFill>
                <a:srgbClr val="739A92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72" name="Google Shape;372;p34"/>
            <p:cNvSpPr/>
            <p:nvPr/>
          </p:nvSpPr>
          <p:spPr>
            <a:xfrm rot="-180000">
              <a:off x="14" y="281"/>
              <a:ext cx="8220" cy="453"/>
            </a:xfrm>
            <a:custGeom>
              <a:rect b="b" l="l" r="r" t="t"/>
              <a:pathLst>
                <a:path extrusionOk="0" h="20682" w="21600">
                  <a:moveTo>
                    <a:pt x="0" y="18514"/>
                  </a:moveTo>
                  <a:cubicBezTo>
                    <a:pt x="1023" y="16364"/>
                    <a:pt x="3563" y="5413"/>
                    <a:pt x="6136" y="5767"/>
                  </a:cubicBezTo>
                  <a:cubicBezTo>
                    <a:pt x="8710" y="6121"/>
                    <a:pt x="12864" y="21600"/>
                    <a:pt x="15441" y="20639"/>
                  </a:cubicBezTo>
                  <a:cubicBezTo>
                    <a:pt x="18019" y="19678"/>
                    <a:pt x="20319" y="4300"/>
                    <a:pt x="21600" y="0"/>
                  </a:cubicBezTo>
                </a:path>
              </a:pathLst>
            </a:custGeom>
            <a:noFill/>
            <a:ln cap="flat" cmpd="sng" w="9525">
              <a:solidFill>
                <a:srgbClr val="809AA9">
                  <a:alpha val="78039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- Title and Content">
  <a:themeElements>
    <a:clrScheme name="Default - Title and Conten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fault - Title Slide">
  <a:themeElements>
    <a:clrScheme name="Default - Title Slide">
      <a:dk1>
        <a:srgbClr val="FFFFFF"/>
      </a:dk1>
      <a:lt1>
        <a:srgbClr val="000000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000000"/>
      </a:accent3>
      <a:accent4>
        <a:srgbClr val="BBE0E3"/>
      </a:accent4>
      <a:accent5>
        <a:srgbClr val="333399"/>
      </a:accent5>
      <a:accent6>
        <a:srgbClr val="000000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efault - Title and Content copy 1">
  <a:themeElements>
    <a:clrScheme name="Default - Title and Content copy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efault - Two Content">
  <a:themeElements>
    <a:clrScheme name="Default - Two Conten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efault - Title and Content copy 2">
  <a:themeElements>
    <a:clrScheme name="Default - Title and Content copy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efault - Title and Content copy">
  <a:themeElements>
    <a:clrScheme name="Default - Title and Content copy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